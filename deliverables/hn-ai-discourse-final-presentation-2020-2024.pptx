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F5700"/>
                </a:solidFill>
                <a:latin typeface="Helvetica Neue"/>
              </a:rPr>
              <a:t>MACS 30123 · FINAL PROJECT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1C2736"/>
                </a:solidFill>
                <a:latin typeface="Helvetica Neue"/>
              </a:rPr>
              <a:t>Mapping the Discursive Battle</a:t>
            </a:r>
          </a:p>
          <a:p>
            <a:pPr algn="l">
              <a:lnSpc>
                <a:spcPct val="105000"/>
              </a:lnSpc>
            </a:pPr>
            <a:r>
              <a:rPr sz="4600" b="1">
                <a:solidFill>
                  <a:srgbClr val="1C2736"/>
                </a:solidFill>
                <a:latin typeface="Helvetica Neue"/>
              </a:rPr>
              <a:t>Over AI on Hacker News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55606F"/>
                </a:solidFill>
                <a:latin typeface="Helvetica Neue"/>
              </a:rPr>
              <a:t>60 months · 411K comments · doomer vs accelerationist framings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46177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3767" y="478231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BF5700"/>
                </a:solidFill>
                <a:latin typeface="Helvetica Neue"/>
              </a:rPr>
              <a:t>411K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767" y="5532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comments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5527" y="46177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478231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BF5700"/>
                </a:solidFill>
                <a:latin typeface="Helvetica Neue"/>
              </a:rPr>
              <a:t>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527" y="5532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months 2020–24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46177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87287" y="478231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BF5700"/>
                </a:solidFill>
                <a:latin typeface="Helvetica Neue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7287" y="5532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stance classifiers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9047" y="461772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39047" y="4782312"/>
            <a:ext cx="2468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>
                <a:solidFill>
                  <a:srgbClr val="BF5700"/>
                </a:solidFill>
                <a:latin typeface="Helvetica Neue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9047" y="55321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aggregation backends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606F"/>
                </a:solidFill>
                <a:latin typeface="Helvetica Neue"/>
              </a:rPr>
              <a:t>Cynthia Wu  ·  University of Chicago  ·  github.com/macs30123-s26/final-project-final-project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THE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0664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736"/>
                </a:solidFill>
                <a:latin typeface="Helvetica Neue"/>
              </a:rPr>
              <a:t>Did doomer vs accelerationist framing of AI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736"/>
                </a:solidFill>
                <a:latin typeface="Helvetica Neue"/>
              </a:rPr>
              <a:t>shift around three pivotal events?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00784"/>
            <a:ext cx="1005840" cy="28575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66544"/>
            <a:ext cx="6400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>
                <a:solidFill>
                  <a:srgbClr val="1C2736"/>
                </a:solidFill>
                <a:latin typeface="Helvetica Neue"/>
              </a:rPr>
              <a:t>·  Hacker News as an elite technical public sphere — narratives show up here before mainstream media.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800">
                <a:solidFill>
                  <a:srgbClr val="1C2736"/>
                </a:solidFill>
                <a:latin typeface="Helvetica Neue"/>
              </a:rPr>
              <a:t>·  60 months · 411K comments · doomer / accelerationist / neutral stance per comment.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800">
                <a:solidFill>
                  <a:srgbClr val="1C2736"/>
                </a:solidFill>
                <a:latin typeface="Helvetica Neue"/>
              </a:rPr>
              <a:t>·  Interrupted time series at ChatGPT (2022-11-30), with pulse dummies at GPT-4 and the OpenAI board crisis.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0" y="2066544"/>
            <a:ext cx="4297680" cy="3200400"/>
          </a:xfrm>
          <a:prstGeom prst="roundRect">
            <a:avLst>
              <a:gd name="adj" fmla="val 7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2386584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THE METHODOLOGICAL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843784"/>
            <a:ext cx="35661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C2736"/>
                </a:solidFill>
                <a:latin typeface="Helvetica Neue"/>
              </a:rPr>
              <a:t>Single-classifier discourse analysis is fragile. A defensible answer requires running the same panel under multiple independent measurement instruments and seeing where they agree or disagree.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SCALE, THREE 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0664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736"/>
                </a:solidFill>
                <a:latin typeface="Helvetica Neue"/>
              </a:rPr>
              <a:t>Why this is a scalable-computing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00784"/>
            <a:ext cx="1005840" cy="28575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066544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066544"/>
            <a:ext cx="3576218" cy="16459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Corpus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35224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BF5700"/>
                </a:solidFill>
                <a:latin typeface="Helvetica Neue"/>
              </a:rPr>
              <a:t>1,260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95344"/>
            <a:ext cx="293613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5606F"/>
                </a:solidFill>
                <a:latin typeface="Helvetica Neue"/>
              </a:rPr>
              <a:t>1,260 partitioned shards across 60 months · year × keyword family ×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2066544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2066544"/>
            <a:ext cx="3576218" cy="16459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7778" y="2386584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Per-doc classification ×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935224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BF5700"/>
                </a:solidFill>
                <a:latin typeface="Helvetica Neue"/>
              </a:rPr>
              <a:t>411K ×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3895344"/>
            <a:ext cx="293613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5606F"/>
                </a:solidFill>
                <a:latin typeface="Helvetica Neue"/>
              </a:rPr>
              <a:t>411K comments scored by four independent stance instruments — CPU + GPU.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2556" y="2066544"/>
            <a:ext cx="357621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2556" y="2066544"/>
            <a:ext cx="3576218" cy="164592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2596" y="2386584"/>
            <a:ext cx="29361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Aggregation × 4 backends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2596" y="2935224"/>
            <a:ext cx="293613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BF5700"/>
                </a:solidFill>
                <a:latin typeface="Helvetica Neue"/>
              </a:rPr>
              <a:t>60-month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3895344"/>
            <a:ext cx="293613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5606F"/>
                </a:solidFill>
                <a:latin typeface="Helvetica Neue"/>
              </a:rPr>
              <a:t>Same 1,260 inference parquets reduced under serial pandas, Dask local, Dask multi-node, PySpark.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Why scalable computing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0664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736"/>
                </a:solidFill>
                <a:latin typeface="Helvetica Neue"/>
              </a:rPr>
              <a:t>Pipeline — 6 stages, partitioned files, re-run any branch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00784"/>
            <a:ext cx="1005840" cy="28575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066544"/>
            <a:ext cx="3545738" cy="1874519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5798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BF5700"/>
                </a:solidFill>
                <a:latin typeface="Helvetica Neue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31136"/>
            <a:ext cx="24484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79776"/>
            <a:ext cx="2448458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AWS EC2 + S3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+ local parallel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2066544"/>
            <a:ext cx="3545738" cy="1874519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1578" y="215798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07C80"/>
                </a:solidFill>
                <a:latin typeface="Helvetica Neue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1658" y="2231136"/>
            <a:ext cx="24484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Clean + 4 classifiers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1658" y="2779776"/>
            <a:ext cx="2448458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Midway Slurm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CPU + GPU array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3036" y="2066544"/>
            <a:ext cx="3545738" cy="1874519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1636" y="215798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07C80"/>
                </a:solidFill>
                <a:latin typeface="Helvetica Neue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1716" y="2231136"/>
            <a:ext cx="24484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Aggregate × 4 backends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1716" y="2779776"/>
            <a:ext cx="2448458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Midway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pandas / Dask / Spark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215383"/>
            <a:ext cx="3545738" cy="1874519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0682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07C80"/>
                </a:solidFill>
                <a:latin typeface="Helvetica Neue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79975"/>
            <a:ext cx="24484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ITS + atlas + topics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28615"/>
            <a:ext cx="2448458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Midway Slurm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statsmodels / BERTopic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2978" y="4215383"/>
            <a:ext cx="3545738" cy="1874519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1578" y="430682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07C80"/>
                </a:solidFill>
                <a:latin typeface="Helvetica Neue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1658" y="4379975"/>
            <a:ext cx="24484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Gold-set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1658" y="4928615"/>
            <a:ext cx="2448458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Midway Slurm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200-row hand audit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3036" y="4215383"/>
            <a:ext cx="3545738" cy="1874519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1636" y="430682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BF5700"/>
                </a:solidFill>
                <a:latin typeface="Helvetica Neue"/>
              </a:rP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1716" y="4379975"/>
            <a:ext cx="244845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Public dashboards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1716" y="4928615"/>
            <a:ext cx="2448458" cy="1051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AWS S3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static website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606F"/>
                </a:solidFill>
                <a:latin typeface="Helvetica Neue"/>
              </a:rPr>
              <a:t>Everything after Stage ① runs on Midway Slurm — CPU arrays, GPU, Dask multi-node, PySpark.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BACKEND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0664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736"/>
                </a:solidFill>
                <a:latin typeface="Helvetica Neue"/>
              </a:rPr>
              <a:t>Four aggregation backends, same 1,260 parquets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00784"/>
            <a:ext cx="1005840" cy="28575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amework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375" y="2066544"/>
            <a:ext cx="7148945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5486400"/>
            <a:ext cx="11185855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96128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C2736"/>
                </a:solidFill>
                <a:latin typeface="Helvetica Neue"/>
              </a:rPr>
              <a:t>PySpark 23 s — Dask multi-node 36 s — pandas 62 s — Dask local 152 s. Distributed isn’t automatically faster.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Backend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CROSS-METHOD 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0664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736"/>
                </a:solidFill>
                <a:latin typeface="Helvetica Neue"/>
              </a:rPr>
              <a:t>7 of 8 headline coefficients disagree across 4 classifiers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00784"/>
            <a:ext cx="1005840" cy="28575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57984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BF5700"/>
                </a:solidFill>
                <a:latin typeface="Helvetica Neue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07822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6F"/>
                </a:solidFill>
                <a:latin typeface="Helvetica Neue"/>
              </a:rPr>
              <a:t>headline coefficients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6F"/>
                </a:solidFill>
                <a:latin typeface="Helvetica Neue"/>
              </a:rPr>
              <a:t>fail the agreement criterion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992624"/>
            <a:ext cx="4206240" cy="128016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29784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3 SIGN FLIPS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95544"/>
            <a:ext cx="3840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C2736"/>
                </a:solidFill>
                <a:latin typeface="Helvetica Neue"/>
              </a:rPr>
              <a:t>doomer × ChatGPT level · accel × board crisis · accel × GPT-4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157984"/>
            <a:ext cx="5836615" cy="4389120"/>
          </a:xfrm>
          <a:prstGeom prst="roundRect">
            <a:avLst>
              <a:gd name="adj" fmla="val 5000"/>
            </a:avLst>
          </a:prstGeom>
          <a:solidFill>
            <a:srgbClr val="00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386584"/>
            <a:ext cx="5196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Helvetica Neue"/>
              </a:rPr>
              <a:t>ONE DIRECTION SURVIVES EVERY 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935224"/>
            <a:ext cx="5196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Helvetica Neue"/>
              </a:rPr>
              <a:t>Board-crisis doomer 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4489704"/>
            <a:ext cx="5196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Helvetica Neue"/>
              </a:rPr>
              <a:t>+0.012 to +0.131 across TF-IDF, zero-shot gated, and zero-shot ungated — every method finds a rise in doomer share after the OpenAI board episode.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Cross-method 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0664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C2736"/>
                </a:solidFill>
                <a:latin typeface="Helvetica Neue"/>
              </a:rPr>
              <a:t>Gold-set vs human judgement — bounding the instrument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00784"/>
            <a:ext cx="1005840" cy="28575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929384"/>
            <a:ext cx="11155680" cy="2623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983480"/>
            <a:ext cx="5455767" cy="1325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BF5700"/>
                </a:solidFill>
                <a:latin typeface="Helvetica Neue"/>
              </a:rPr>
              <a:t>51 %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5166360"/>
            <a:ext cx="2895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LEXICON PRECISION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5532120"/>
            <a:ext cx="28954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736"/>
                </a:solidFill>
                <a:latin typeface="Helvetica Neue"/>
              </a:rPr>
              <a:t>of 200 hand-labelled rows are wrong_other — retrieved by the lexicon but not actually about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983480"/>
            <a:ext cx="5455767" cy="13258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512064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BF5700"/>
                </a:solidFill>
                <a:latin typeface="Helvetica Neue"/>
              </a:rPr>
              <a:t>98.3 %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4727" y="5166360"/>
            <a:ext cx="289544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EMBEDDING RECALL CEILING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4727" y="5532120"/>
            <a:ext cx="28954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C2736"/>
                </a:solidFill>
                <a:latin typeface="Helvetica Neue"/>
              </a:rPr>
              <a:t>MiniLM cosine-similarity cross-check — the lexicon over-retrieves but rarely under-retrieves.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Gold-set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1C27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F5700"/>
                </a:solidFill>
                <a:latin typeface="Helvetica Neue"/>
              </a:rPr>
              <a:t>WHAT THE PIPELINE BUYS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118585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A 60-month panel of HN AI discourse,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Helvetica Neue"/>
              </a:rPr>
              <a:t>cross-checked under multiple instruments.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566160"/>
            <a:ext cx="36066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3566160"/>
            <a:ext cx="3606698" cy="13716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3192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4 stance classifiers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2628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lexicon · TF-IDF + LR · zero-shot DeBERTa · DistilBERT fine-tune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2498" y="3566160"/>
            <a:ext cx="36066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498" y="3566160"/>
            <a:ext cx="3606698" cy="13716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6818" y="393192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4 aggregation backends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6818" y="452628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pandas · Dask local · Dask multi-node · PySpark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3566160"/>
            <a:ext cx="360669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2076" y="3566160"/>
            <a:ext cx="3606698" cy="137160"/>
          </a:xfrm>
          <a:prstGeom prst="rect">
            <a:avLst/>
          </a:prstGeom>
          <a:solidFill>
            <a:srgbClr val="BF5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3931920"/>
            <a:ext cx="305805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C2736"/>
                </a:solidFill>
                <a:latin typeface="Helvetica Neue"/>
              </a:rPr>
              <a:t>3 collection venues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4526280"/>
            <a:ext cx="305805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6F"/>
                </a:solidFill>
                <a:latin typeface="Helvetica Neue"/>
              </a:rPr>
              <a:t>Local parallel · AWS EC2 + S3 · Google BigQuery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715000"/>
            <a:ext cx="11185855" cy="6400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79008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F5700"/>
                </a:solidFill>
                <a:latin typeface="Helvetica Neue"/>
              </a:rPr>
              <a:t>LIVE 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5779008"/>
            <a:ext cx="789401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C2736"/>
                </a:solidFill>
                <a:latin typeface="Helvetica Neue"/>
              </a:rPr>
              <a:t>hn-ai-discourse-public-2026.s3-website-us-east-1.amazonaws.com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Contribution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5606F"/>
                </a:solidFill>
                <a:latin typeface="Helvetica Neue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